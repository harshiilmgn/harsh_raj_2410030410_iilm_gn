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REPORT  •  B.TECH CSE, IILM UNIVERSITY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of an AI-Powered Client Query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&amp; Document Classification Tool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proof-of-concept NLP system built during a Summer Internship at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D. Jones &amp; Co. (P) Ltd., Kolkata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74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Raj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2410030410  |  Batch 2026-27 (5th Semester)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Engineering, IILM University, Greater Noida, U.P.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 – 4.2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D. Jones &amp; Co. (P) Ltd. is an ISO 9001:2015 certified company based in Kolkata, engaged in shipping and allied trading services. Its AI Development team builds small-scale automation solutions to support day-to-day operations.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1883664" cy="457200"/>
          </a:xfrm>
          <a:prstGeom prst="roundRect">
            <a:avLst>
              <a:gd name="adj" fmla="val 50000"/>
            </a:avLst>
          </a:prstGeom>
          <a:solidFill>
            <a:srgbClr val="EAF5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Trading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15184" y="3429000"/>
            <a:ext cx="1449324" cy="457200"/>
          </a:xfrm>
          <a:prstGeom prst="roundRect">
            <a:avLst>
              <a:gd name="adj" fmla="val 50000"/>
            </a:avLst>
          </a:prstGeom>
          <a:solidFill>
            <a:srgbClr val="EAF5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15184" y="3429000"/>
            <a:ext cx="14493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47388" y="3429000"/>
            <a:ext cx="1970532" cy="457200"/>
          </a:xfrm>
          <a:prstGeom prst="roundRect">
            <a:avLst>
              <a:gd name="adj" fmla="val 50000"/>
            </a:avLst>
          </a:prstGeom>
          <a:solidFill>
            <a:srgbClr val="EAF5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7388" y="3429000"/>
            <a:ext cx="1970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J. D. Jones &amp; Co. (P) Ltd.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983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CIN: U10200WB1923PTC004802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4F7F9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2084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2542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D. Jones &amp; Co. (P) Ltd.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20840" y="2944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084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Trading &amp; Allied Business 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3602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OFFICE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3858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Kolkata, West Bengal, India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4261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4517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(DNV·GL)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49194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0840" y="51755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– AI Developer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5577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58338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Aug 2026 – 5 Nov 2026 (3 months)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operations team receives a large number of routine client queries daily — on shipment status, documentation, and billing — answered manually, which is time-consuming and repetitive.”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350215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94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Repetitive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read and answer recurring query categories by hand every day.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3520440"/>
            <a:ext cx="350215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37947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4599432" y="4434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Time-Consuming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9432" y="489204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high-volume categories consume disproportionate staff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1584" y="3520440"/>
            <a:ext cx="350215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3794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8375904" y="443484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Needed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75904" y="4892040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automation must keep a human reviewer before replies reach clients.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1737360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73736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hands-on, industry-level experience applying AI/NLP to a real business problem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2633472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633472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prototype that classifies incoming client queries by category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88720" y="3529584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4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3529584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module that suggests draft responses for common, repetitive queries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88720" y="4425696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4F7F9"/>
          </a:solidFill>
          <a:ln/>
        </p:spPr>
      </p:sp>
      <p:sp>
        <p:nvSpPr>
          <p:cNvPr id="19" name="Text 17"/>
          <p:cNvSpPr/>
          <p:nvPr/>
        </p:nvSpPr>
        <p:spPr>
          <a:xfrm>
            <a:off x="1417320" y="4425696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basic document-tagging utility to organise incoming business documents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5321808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4F7F9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5321808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professional development practices, version control, and team collaboration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scoped as an internal prototype for the operations team — built and tested on a sample, anonymised dataset rather than deployed to production.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EAF5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Classification prototype on sample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776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Measuring accuracy &amp; F1-score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3525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Response-suggestion drafting aid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9286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Document-tagging utility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55046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Time-saving estimation on repetitive tasks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514600"/>
            <a:ext cx="5330952" cy="3657600"/>
          </a:xfrm>
          <a:prstGeom prst="roundRect">
            <a:avLst>
              <a:gd name="adj" fmla="val 2000"/>
            </a:avLst>
          </a:prstGeom>
          <a:solidFill>
            <a:srgbClr val="F6EEEC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Production deployment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29400" y="37764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Live client communication integration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4352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Fully automated reply sending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0195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74136" y="17373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7016" y="190195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57016" y="2240280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/ spaCy, scikit-learn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90195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82512" y="2240280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25128" y="173736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8008" y="190195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08008" y="2240280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8503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(internal dashboard)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74136" y="352044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368503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57016" y="4023360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9632" y="352044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68503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ENVIRONMENT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82512" y="4023360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Jupyter Notebook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25128" y="3520440"/>
            <a:ext cx="2624328" cy="1554480"/>
          </a:xfrm>
          <a:prstGeom prst="roundRect">
            <a:avLst>
              <a:gd name="adj" fmla="val 4706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8008" y="3685032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08008" y="4023360"/>
            <a:ext cx="22585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Google Sheets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23774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Pre-processing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Classification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tokenise → TF-IDF →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categories)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77640" y="2971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80560" y="210312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0" y="23774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Response-Suggestion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6344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closest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reply for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review &amp; edit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29718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183880" y="2103120"/>
            <a:ext cx="3200400" cy="237744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0" y="23774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8366760" y="3063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Document-Tagging</a:t>
            </a:r>
            <a:endParaRPr lang="en-US" sz="14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66760" y="3657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Keyword/pattern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tags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documents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89204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892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modules are exposed through a lightweight internal Flask dashboard — a team member pastes a query or document snippet and instantly sees the predicted category, confidence, and a suggested draft response.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261872" y="18562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Understanding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2316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Shadowed the operations team; identified frequent, time-consuming query categories.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89280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4568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5056632" y="18562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Preparation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44568" y="242316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 sample, anonymised dataset tagged across 5 categories; tokenised, stop-words removed, TF-IDF applied.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892808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8851392" y="18562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Development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39328" y="2423160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Logistic Regression, Naive Bayes and SVM on a held-out split; TF-IDF + Logistic Regression selected.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93008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69417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1261872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Response-Suggestion Module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" y="42245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Rule-assisted module retrieves the closest template reply for staff review — not fully automated.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493008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369417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456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5056632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Tagging Utility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44568" y="42245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Keyword/pattern matching automatically tags incoming documents to speed up sorting.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493008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369417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2" dirty="0"/>
          </a:p>
        </p:txBody>
      </p:sp>
      <p:sp>
        <p:nvSpPr>
          <p:cNvPr id="32" name="Text 30"/>
          <p:cNvSpPr/>
          <p:nvPr/>
        </p:nvSpPr>
        <p:spPr>
          <a:xfrm>
            <a:off x="8851392" y="3657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Internal Demo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339328" y="422452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in a Flask dashboard for team testing; feedback incorporated in iterative updates.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Tagged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queries were tagged across five recurring categories to train and test the classifier.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566160"/>
        </p:xfrm>
        <a:graphic>
          <a:graphicData uri="http://schemas.openxmlformats.org/drawingml/2006/table">
            <a:tbl>
              <a:tblPr/>
              <a:tblGrid>
                <a:gridCol w="7863840"/>
                <a:gridCol w="32004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share the latest location of cargo JDJ2584.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clarify the additional charges on bill JDJ7252?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Query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documents for JDJ4510 were sent with incorrect details.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/ Escalation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forward the insurance certificate for order JDJ4483.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should I contact regarding new business enquiries?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Enquiry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93.8%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34340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737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40–50%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138160" y="2514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C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Drafting (est.)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Per-Category Precision / Recall / F1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7315200" cy="2377440"/>
        </p:xfrm>
        <a:graphic>
          <a:graphicData uri="http://schemas.openxmlformats.org/drawingml/2006/table">
            <a:tbl>
              <a:tblPr/>
              <a:tblGrid>
                <a:gridCol w="3108960"/>
                <a:gridCol w="1399032"/>
                <a:gridCol w="1399032"/>
                <a:gridCol w="1408176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 / Escalation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Enquiry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138160" y="365760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F4F7F9"/>
          </a:solidFill>
          <a:ln/>
        </p:spPr>
      </p:sp>
      <p:sp>
        <p:nvSpPr>
          <p:cNvPr id="16" name="Text 13"/>
          <p:cNvSpPr/>
          <p:nvPr/>
        </p:nvSpPr>
        <p:spPr>
          <a:xfrm>
            <a:off x="8366760" y="3840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366760" y="42062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confusion occurred between “Shipment Status” and “Documentation Request”, since delay queries often also referenced missing documents.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5FD3C4"/>
          </a:solidFill>
          <a:ln w="12700">
            <a:solidFill>
              <a:srgbClr val="5FD3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client queries into the correct category with ~94% test accuracy.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737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1965960"/>
            <a:ext cx="457200" cy="457200"/>
          </a:xfrm>
          <a:prstGeom prst="ellipse">
            <a:avLst/>
          </a:prstGeom>
          <a:solidFill>
            <a:srgbClr val="5FD3C4"/>
          </a:solidFill>
          <a:ln w="12700">
            <a:solidFill>
              <a:srgbClr val="5FD3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35424" y="25603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Manual Effort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301752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drafting of responses for common, repetitive client queries.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737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65960"/>
            <a:ext cx="457200" cy="457200"/>
          </a:xfrm>
          <a:prstGeom prst="ellipse">
            <a:avLst/>
          </a:prstGeom>
          <a:solidFill>
            <a:srgbClr val="5FD3C4"/>
          </a:solidFill>
          <a:ln w="12700">
            <a:solidFill>
              <a:srgbClr val="5FD3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93608" y="25603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Sorting Aid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93608" y="301752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tagging utility speeds up organisation of incoming documents.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5FD3C4"/>
          </a:solidFill>
          <a:ln w="12700">
            <a:solidFill>
              <a:srgbClr val="5FD3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Demonstrated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34924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case for expanding into production, with a larger training dataset.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06824" y="406908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065A82">
              <a:alpha val="7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35424" y="4297680"/>
            <a:ext cx="457200" cy="457200"/>
          </a:xfrm>
          <a:prstGeom prst="ellipse">
            <a:avLst/>
          </a:prstGeom>
          <a:solidFill>
            <a:srgbClr val="5FD3C4"/>
          </a:solidFill>
          <a:ln w="12700">
            <a:solidFill>
              <a:srgbClr val="5FD3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5424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35424" y="48920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Growth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35424" y="534924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Python, NLP, scikit-learn, Flask, time management &amp; teamwork skills.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Client Query Automation &amp; Document Classification Tool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Raj  |  Roll No. 2410030410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– AI Developer, J. D. Jones &amp; Co. (P) Ltd., Kolkata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Engineering, IILM University, Greater Noida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2026-08-30T17:41:13Z</dcterms:created>
  <dcterms:modified xsi:type="dcterms:W3CDTF">2026-08-30T17:41:13Z</dcterms:modified>
</cp:coreProperties>
</file>